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embeddedFontLst>
    <p:embeddedFont>
      <p:font typeface="Crimson Pro SemiBold" panose="020B0604020202020204" charset="0"/>
      <p:regular r:id="rId22"/>
    </p:embeddedFont>
    <p:embeddedFont>
      <p:font typeface="Heebo" pitchFamily="2" charset="-79"/>
      <p:regular r:id="rId23"/>
    </p:embeddedFont>
    <p:embeddedFont>
      <p:font typeface="Heebo Bold" charset="-79"/>
      <p:regular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4444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57698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BrickHome RWA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451100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Tokenización inmobiliaria mediante blockchain: transformando iliquidez en oportunidad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3315791"/>
            <a:ext cx="6296860" cy="25400"/>
          </a:xfrm>
          <a:prstGeom prst="roundRect">
            <a:avLst>
              <a:gd name="adj" fmla="val 49999"/>
            </a:avLst>
          </a:prstGeom>
          <a:solidFill>
            <a:srgbClr val="4C4C4D">
              <a:alpha val="5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661475" y="3601045"/>
            <a:ext cx="6296860" cy="11802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Autores</a:t>
            </a:r>
            <a:endParaRPr lang="en-US" sz="1150" dirty="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Rubén Acedo · Xavier Farah · Nadia Marcela Mira · Álvaro Arévalo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Línea de investigación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Tokenización de activos reales, finanzas descentralizadas y cumplimiento regulatorio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61475" y="4993878"/>
            <a:ext cx="5089596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2150F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774879" y="5050532"/>
            <a:ext cx="547237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MÁSTER EN BLOCKCHAIN Y CRIPTOACTIVOS · IEBS BUSINESS SCHOOL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845525" y="4993878"/>
            <a:ext cx="1012006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2150F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5958929" y="5050532"/>
            <a:ext cx="139478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JULIO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577207"/>
            <a:ext cx="6296860" cy="8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1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El Problema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661475" y="3675856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 mercado de activos billonario atrapado por fricciones estructurales del siglo XX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3938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Fricciones del Mercado Inmobiliario</a:t>
            </a:r>
            <a:endParaRPr lang="en-US" sz="3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419721"/>
            <a:ext cx="5354007" cy="2361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0946" y="1612999"/>
            <a:ext cx="4891263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Iliquidez Endémica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930946" y="1981498"/>
            <a:ext cx="4891263" cy="1606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Activos inmobiliarios requieren </a:t>
            </a:r>
            <a:r>
              <a:rPr lang="en-US" sz="13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6–12 meses</a:t>
            </a: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para materializar una venta en condiciones de mercado. Esto contrasta con mercados de valores donde la liquidez es inmediata. El inversor no institucional queda </a:t>
            </a:r>
            <a:r>
              <a:rPr lang="en-US" sz="13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atrapado en posiciones ilíquidas</a:t>
            </a: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sin capacidad de reacción ante cambios de mercado o necesidades de capital.</a:t>
            </a:r>
            <a:endParaRPr lang="en-US" sz="13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76113" y="1419721"/>
            <a:ext cx="5354107" cy="236180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45585" y="1612999"/>
            <a:ext cx="4891362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Barreras de Entrada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6445585" y="1981498"/>
            <a:ext cx="4891362" cy="1606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Ticket mínimo de </a:t>
            </a:r>
            <a:r>
              <a:rPr lang="en-US" sz="13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$100K+</a:t>
            </a: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excluye sistemáticamente a inversores minoristas y patrimonios medios. Solo inversores institucionales pueden acceder a oportunidades de calidad. El co-living en El Zonte atrae nómadas digitales con patrimonios de </a:t>
            </a:r>
            <a:r>
              <a:rPr lang="en-US" sz="13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$50K–$500K</a:t>
            </a: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pero estos perfiles no pueden invertir en los activos reales que consumen.</a:t>
            </a:r>
            <a:endParaRPr lang="en-US" sz="13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942159"/>
            <a:ext cx="5354007" cy="236180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30946" y="4135437"/>
            <a:ext cx="4891263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Opacidad de Información</a:t>
            </a:r>
            <a:endParaRPr lang="en-US" sz="1700" dirty="0"/>
          </a:p>
        </p:txBody>
      </p:sp>
      <p:sp>
        <p:nvSpPr>
          <p:cNvPr id="11" name="Text 6"/>
          <p:cNvSpPr/>
          <p:nvPr/>
        </p:nvSpPr>
        <p:spPr>
          <a:xfrm>
            <a:off x="930946" y="4503936"/>
            <a:ext cx="4891263" cy="1606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Reportes privados sin trazabilidad verificable impiden la auditoría independiente y generan </a:t>
            </a:r>
            <a:r>
              <a:rPr lang="en-US" sz="13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asimetría informativa estructural</a:t>
            </a: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Los inversores desconocen la ocupación real, gastos operativos, costes de mantenimiento e ingresos netos. La dependencia total de intermediarios crea un entorno de confianza frágil e inverificable.</a:t>
            </a:r>
            <a:endParaRPr lang="en-US" sz="13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76113" y="3942159"/>
            <a:ext cx="5354107" cy="236180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445585" y="4135437"/>
            <a:ext cx="4891362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Costes de Intermediación</a:t>
            </a:r>
            <a:endParaRPr lang="en-US" sz="1700" dirty="0"/>
          </a:p>
        </p:txBody>
      </p:sp>
      <p:sp>
        <p:nvSpPr>
          <p:cNvPr id="14" name="Text 8"/>
          <p:cNvSpPr/>
          <p:nvPr/>
        </p:nvSpPr>
        <p:spPr>
          <a:xfrm>
            <a:off x="6445585" y="4503936"/>
            <a:ext cx="4891362" cy="1606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La cadena de fricción es sistemática: comisiones de agencia </a:t>
            </a:r>
            <a:r>
              <a:rPr lang="en-US" sz="13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(3–5%)</a:t>
            </a: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notaría </a:t>
            </a:r>
            <a:r>
              <a:rPr lang="en-US" sz="13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(1–2%)</a:t>
            </a: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y gestión </a:t>
            </a:r>
            <a:r>
              <a:rPr lang="en-US" sz="13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(1–2%)</a:t>
            </a: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suman entre </a:t>
            </a:r>
            <a:r>
              <a:rPr lang="en-US" sz="13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8–12% en costes puros</a:t>
            </a: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Este peaje reduce el yield neto de forma significativa, penalizando especialmente a inversores con menor capital que no pueden diluir estos costes en portfolios diversificados.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264" y="2364184"/>
            <a:ext cx="3757915" cy="21295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6941" y="667841"/>
            <a:ext cx="883223" cy="218877"/>
          </a:xfrm>
          <a:prstGeom prst="roundRect">
            <a:avLst>
              <a:gd name="adj" fmla="val 7902"/>
            </a:avLst>
          </a:prstGeom>
          <a:solidFill>
            <a:srgbClr val="CCD7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5803358" y="711002"/>
            <a:ext cx="1319973" cy="132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CASO PILOTO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716941" y="930672"/>
            <a:ext cx="5819530" cy="90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Oportunidad: Co-living en Playa El Zonte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151012" y="2004715"/>
            <a:ext cx="5385459" cy="225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Mercado Emergente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151012" y="2339777"/>
            <a:ext cx="5385459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15M+ nómadas digitales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globales con crecimiento anual del 25% generan demanda estructural de co-living. Este segmento busca comunidad, flexibilidad y acceso a espacios de trabajo colaborativo. El co-living es el modelo de alojamiento que mejor responde a estas necesidades, con </a:t>
            </a:r>
            <a:r>
              <a:rPr lang="en-US" sz="11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ocupación superior al 80%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en destinos consolidados.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151012" y="3625056"/>
            <a:ext cx="5385459" cy="225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Activo Piloto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151012" y="3960118"/>
            <a:ext cx="5385459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Propiedad co-living generadora de rentas en </a:t>
            </a:r>
            <a:r>
              <a:rPr lang="en-US" sz="11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Playa El Zonte, El Salvador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El Zonte es un destino emergente con infraestructura de internet de calidad, comunidad de nómadas establecida y costos operativos bajos. El activo piloto genera </a:t>
            </a:r>
            <a:r>
              <a:rPr lang="en-US" sz="11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ingresos verificables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y permite validar el modelo antes de escalar.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151012" y="5042198"/>
            <a:ext cx="5385459" cy="225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Laboratorio Regulatorio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151012" y="5377259"/>
            <a:ext cx="5385459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Marco legal </a:t>
            </a:r>
            <a:r>
              <a:rPr lang="en-US" sz="11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favorable para activos digitales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El Salvador adoptó Bitcoin como moneda de curso legal en 2021 y mantiene una postura progresista hacia la innovación financiera. Esto reduce riesgos regulatorios frente a jurisdicciones más restrictivas, permitiendo experimentar con </a:t>
            </a:r>
            <a:r>
              <a:rPr lang="en-US" sz="11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security tokens y smart contracts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577207"/>
            <a:ext cx="6296860" cy="8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1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La Solución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661475" y="3675856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Infraestructura técnica, legal y regulatoria diseñada para la emisión de security tokens inmobiliarios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6716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Arquitectura BrickHome: Tres Pilares</a:t>
            </a:r>
            <a:endParaRPr lang="en-US" sz="3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22499"/>
            <a:ext cx="3622882" cy="6970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5699" y="2280146"/>
            <a:ext cx="3274434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Off-Chain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835699" y="2648645"/>
            <a:ext cx="3274434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SPV (Sociedad Vehículo Propósito Especial)</a:t>
            </a: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titular registral del inmueble, separando riesgo jurídico.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35699" y="3548360"/>
            <a:ext cx="3274434" cy="25785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Entidad legal que posee el activo real y genera flujos de caja</a:t>
            </a:r>
            <a:endParaRPr lang="en-US" sz="1350" dirty="0"/>
          </a:p>
          <a:p>
            <a:pPr marL="274320" indent="-274320" algn="l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El token representa </a:t>
            </a:r>
            <a:r>
              <a:rPr lang="en-US" sz="13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derechos económicos sobre el SPV</a:t>
            </a: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no la propiedad directa del inmueble</a:t>
            </a:r>
            <a:endParaRPr lang="en-US" sz="1350" dirty="0"/>
          </a:p>
          <a:p>
            <a:pPr marL="274320" indent="-274320" algn="l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Aísla al inversor de riesgos operativos y deudas del promotor</a:t>
            </a:r>
            <a:endParaRPr lang="en-US" sz="1350" dirty="0"/>
          </a:p>
          <a:p>
            <a:pPr marL="274320" indent="-274320" algn="l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Fundamental para cumplimiento regulatorio y claridad legal</a:t>
            </a:r>
            <a:endParaRPr lang="en-US" sz="13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4357" y="1422499"/>
            <a:ext cx="3622882" cy="697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58581" y="2280146"/>
            <a:ext cx="3274434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On-Chain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4458581" y="2648645"/>
            <a:ext cx="3274434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Smart contracts en </a:t>
            </a:r>
            <a:r>
              <a:rPr lang="en-US" sz="13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Ethereum Layer 2</a:t>
            </a: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para emisión de tokens, gobernanza y distribución de rentas.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458581" y="3548360"/>
            <a:ext cx="3274434" cy="25785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Automatización del cálculo y </a:t>
            </a:r>
            <a:r>
              <a:rPr lang="en-US" sz="13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distribución proporcional de rentas</a:t>
            </a: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 holders</a:t>
            </a:r>
            <a:endParaRPr lang="en-US" sz="1350" dirty="0"/>
          </a:p>
          <a:p>
            <a:pPr marL="274320" indent="-274320" algn="l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Registro inmutable de transacciones y cambios de titularidad</a:t>
            </a:r>
            <a:endParaRPr lang="en-US" sz="1350" dirty="0"/>
          </a:p>
          <a:p>
            <a:pPr marL="274320" indent="-274320" algn="l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Gobernanza on-chain para decisiones operativas colectivas</a:t>
            </a:r>
            <a:endParaRPr lang="en-US" sz="1350" dirty="0"/>
          </a:p>
          <a:p>
            <a:pPr marL="274320" indent="-274320" algn="l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Transparencia verificable de todos los flujos mediante auditoría pública</a:t>
            </a:r>
            <a:endParaRPr lang="en-US" sz="13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7239" y="1422499"/>
            <a:ext cx="3622882" cy="69701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81463" y="2280146"/>
            <a:ext cx="3274434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Cumplimiento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8081463" y="2648645"/>
            <a:ext cx="3274434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KYC/AML integrado, security token </a:t>
            </a:r>
            <a:r>
              <a:rPr lang="en-US" sz="13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permissioned</a:t>
            </a: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con restricciones de transferencia según MiCA.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8081463" y="3548360"/>
            <a:ext cx="3274434" cy="25785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28000"/>
              </a:lnSpc>
              <a:buSzPct val="100000"/>
              <a:buChar char="•"/>
            </a:pPr>
            <a:r>
              <a:rPr lang="en-US" sz="13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Whitelist</a:t>
            </a: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de inversores elegibles y restricciones geográficas</a:t>
            </a:r>
            <a:endParaRPr lang="en-US" sz="1350" dirty="0"/>
          </a:p>
          <a:p>
            <a:pPr marL="274320" indent="-274320" algn="l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Límites de concentración para evitar posiciones dominantes</a:t>
            </a:r>
            <a:endParaRPr lang="en-US" sz="1350" dirty="0"/>
          </a:p>
          <a:p>
            <a:pPr marL="274320" indent="-274320" algn="l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Reportes automáticos de cumplimiento regulatorio</a:t>
            </a:r>
            <a:endParaRPr lang="en-US" sz="1350" dirty="0"/>
          </a:p>
          <a:p>
            <a:pPr marL="274320" indent="-274320" algn="l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Solo inversores verificados pueden participar — conforme a </a:t>
            </a:r>
            <a:r>
              <a:rPr lang="en-US" sz="13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MiCA</a:t>
            </a: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y regulación local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9651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Doble Token: Separación Regulatoria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533982" y="1342529"/>
            <a:ext cx="5473265" cy="4975820"/>
          </a:xfrm>
          <a:prstGeom prst="roundRect">
            <a:avLst>
              <a:gd name="adj" fmla="val 534"/>
            </a:avLst>
          </a:prstGeom>
          <a:solidFill>
            <a:srgbClr val="1F293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711182" y="1529358"/>
            <a:ext cx="1339618" cy="269180"/>
          </a:xfrm>
          <a:prstGeom prst="roundRect">
            <a:avLst>
              <a:gd name="adj" fmla="val 7900"/>
            </a:avLst>
          </a:prstGeom>
          <a:noFill/>
          <a:ln w="6350">
            <a:solidFill>
              <a:srgbClr val="2150F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817443" y="1582440"/>
            <a:ext cx="1736682" cy="163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SECURITY TOKEN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1182" y="1864916"/>
            <a:ext cx="5118865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BHT-ELZ1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11182" y="2307927"/>
            <a:ext cx="5118865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Representa </a:t>
            </a:r>
            <a:r>
              <a:rPr lang="en-US" sz="13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derechos económicos</a:t>
            </a:r>
            <a:r>
              <a:rPr lang="en-US" sz="13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sobre los flujos netos del SPV. Sujeto a KYC/AML obligatorio y restricciones de transferencia reguladas conforme a MiCA.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11182" y="3281263"/>
            <a:ext cx="5118865" cy="270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Distribución proporcional de </a:t>
            </a:r>
            <a:r>
              <a:rPr lang="en-US" sz="13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rentas mensuales o trimestrales</a:t>
            </a:r>
            <a:r>
              <a:rPr lang="en-US" sz="13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según acumulación de flujos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Participación en </a:t>
            </a:r>
            <a:r>
              <a:rPr lang="en-US" sz="13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plusvalías del activo</a:t>
            </a:r>
            <a:r>
              <a:rPr lang="en-US" sz="13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en caso de venta o refinanciación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Clasificado como </a:t>
            </a:r>
            <a:r>
              <a:rPr lang="en-US" sz="13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security token bajo MiCA</a:t>
            </a:r>
            <a:r>
              <a:rPr lang="en-US" sz="13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(Mercados de Criptoactivos)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Requiere </a:t>
            </a:r>
            <a:r>
              <a:rPr lang="en-US" sz="13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registro ante autoridades financieras</a:t>
            </a:r>
            <a:r>
              <a:rPr lang="en-US" sz="13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competentes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Transferencias </a:t>
            </a:r>
            <a:r>
              <a:rPr lang="en-US" sz="13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solo entre inversores elegibles</a:t>
            </a:r>
            <a:r>
              <a:rPr lang="en-US" sz="13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verificados en whitelist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18290" y="1529358"/>
            <a:ext cx="1194961" cy="269180"/>
          </a:xfrm>
          <a:prstGeom prst="roundRect">
            <a:avLst>
              <a:gd name="adj" fmla="val 7900"/>
            </a:avLst>
          </a:prstGeom>
          <a:solidFill>
            <a:srgbClr val="CCD7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424551" y="1582440"/>
            <a:ext cx="1592024" cy="163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UTILITY TOKEN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18290" y="1864916"/>
            <a:ext cx="5218280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RLB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318290" y="2307927"/>
            <a:ext cx="5218280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Otorga </a:t>
            </a:r>
            <a:r>
              <a:rPr lang="en-US" sz="13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acceso, descuentos, reputación y gobernanza operativa</a:t>
            </a: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sin derechos financieros ni obligaciones regulatorias de security. Diseñado para generar comunidad activa.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318290" y="3281263"/>
            <a:ext cx="5218280" cy="2978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Prioridad de reserva</a:t>
            </a: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en espacios co-living para holders activos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Sistema de reputación on-chain</a:t>
            </a: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: contribuciones, participación y comportamiento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Gobernanza de </a:t>
            </a:r>
            <a:r>
              <a:rPr lang="en-US" sz="13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decisiones operativas</a:t>
            </a: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(mantenimiento, servicios, mejoras)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Transferible sin restricciones KYC</a:t>
            </a: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: máxima liquidez y accesibilidad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Genera </a:t>
            </a:r>
            <a:r>
              <a:rPr lang="en-US" sz="13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comunidad y engagement</a:t>
            </a: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sin promesas de rentabilidad financiera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2883"/>
            <a:ext cx="10868745" cy="486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Stack Tecnológico: Ethereum Layer 2</a:t>
            </a:r>
            <a:endParaRPr lang="en-US" sz="3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768" y="2374205"/>
            <a:ext cx="4457886" cy="27880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5157" y="3443910"/>
            <a:ext cx="919079" cy="308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9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Compatibilidad EVM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1165157" y="3795771"/>
            <a:ext cx="919079" cy="33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5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Herramientas maduras del ecosistema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2823965" y="4643508"/>
            <a:ext cx="919079" cy="154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Miles TPS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2823965" y="4841345"/>
            <a:ext cx="919079" cy="449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Escalabilidad para soportar miles de transacciones por segundo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4483030" y="3408056"/>
            <a:ext cx="919079" cy="154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Seguridad L1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483030" y="3605893"/>
            <a:ext cx="919079" cy="561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Validación en L1, finality garantizada, heredamos seguridad de Ethereum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2823965" y="2245937"/>
            <a:ext cx="919079" cy="154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90% Menos Gas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2823965" y="2443774"/>
            <a:ext cx="919079" cy="449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Reducción dramática en costos de transacción vs Ethereum L1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6291998" y="1329531"/>
            <a:ext cx="5244572" cy="243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¿Por qué Layer 2?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291998" y="1700808"/>
            <a:ext cx="5244572" cy="796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La elección de Ethereum L2 no es arbitraria: combina la seguridad probada de la red más descentralizada con eficiencia operativa real.</a:t>
            </a:r>
            <a:endParaRPr lang="en-US" sz="12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Ventajas clave: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291998" y="2612430"/>
            <a:ext cx="5244572" cy="2449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Costos de transacción </a:t>
            </a:r>
            <a:r>
              <a:rPr lang="en-US" sz="12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90% menores que L1</a:t>
            </a: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permitiendo distribuciones de rentas frecuentes sin erosionar yields</a:t>
            </a:r>
            <a:endParaRPr lang="en-US" sz="1200" dirty="0"/>
          </a:p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en-US" sz="12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Seguridad heredada de Ethereum</a:t>
            </a: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: validación en L1 con finality garantizada</a:t>
            </a:r>
            <a:endParaRPr lang="en-US" sz="1200" dirty="0"/>
          </a:p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en-US" sz="12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Escalabilidad</a:t>
            </a: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: soporta miles de transacciones/segundo, permitiendo crecimiento sin congestión</a:t>
            </a:r>
            <a:endParaRPr lang="en-US" sz="1200" dirty="0"/>
          </a:p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en-US" sz="12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Herramientas maduras</a:t>
            </a: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: OpenZeppelin, Safe, Foundry garantizan auditoría y estándares de seguridad industrial</a:t>
            </a:r>
            <a:endParaRPr lang="en-US" sz="1200" dirty="0"/>
          </a:p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en-US" sz="12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Comunidad</a:t>
            </a: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: mayor liquidez, más desarrolladores, mejor soporte para security tokens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291998" y="5177234"/>
            <a:ext cx="5854157" cy="227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Alternativas rechazadas: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291998" y="5519539"/>
            <a:ext cx="5244572" cy="770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en-US" sz="12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L1 Ethereum</a:t>
            </a: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: demasiado caro para distribuciones frecuentes</a:t>
            </a:r>
            <a:endParaRPr lang="en-US" sz="1200" dirty="0"/>
          </a:p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en-US" sz="12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Blockchains privadas</a:t>
            </a: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: menor seguridad, menor descentralización</a:t>
            </a:r>
            <a:endParaRPr lang="en-US" sz="1200" dirty="0"/>
          </a:p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en-US" sz="12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Soluciones sidechain</a:t>
            </a: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: mayor riesgo de puentes y activos envueltos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577207"/>
            <a:ext cx="6296860" cy="8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1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Modelo Económico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5233360" y="3675856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Sostenibilidad financiera basada en cuatro fuentes de ingresos complementarias y recurrentes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7035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Fuentes de Ingresos y Sostenibilidad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575991"/>
            <a:ext cx="4954464" cy="35663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21267" y="1554659"/>
            <a:ext cx="521530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Estructura de Comisiones</a:t>
            </a:r>
            <a:endParaRPr lang="en-US" sz="17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21267" y="2027039"/>
            <a:ext cx="2522375" cy="19507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447768" y="2153444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3"/>
          <p:cNvSpPr/>
          <p:nvPr/>
        </p:nvSpPr>
        <p:spPr>
          <a:xfrm>
            <a:off x="6526148" y="2761655"/>
            <a:ext cx="2112612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Estructuración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6526148" y="3212703"/>
            <a:ext cx="2112612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2–3%</a:t>
            </a: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comisión única al cierre del STO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14195" y="2027039"/>
            <a:ext cx="2522375" cy="19507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140696" y="2153444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</a:t>
            </a:r>
            <a:endParaRPr lang="en-US" sz="2100" dirty="0"/>
          </a:p>
        </p:txBody>
      </p:sp>
      <p:sp>
        <p:nvSpPr>
          <p:cNvPr id="11" name="Text 6"/>
          <p:cNvSpPr/>
          <p:nvPr/>
        </p:nvSpPr>
        <p:spPr>
          <a:xfrm>
            <a:off x="9219076" y="2761655"/>
            <a:ext cx="2112612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Administración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9219076" y="3212703"/>
            <a:ext cx="2112612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1–1.5%</a:t>
            </a: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anual sobre activos bajo gestión</a:t>
            </a:r>
            <a:endParaRPr lang="en-US" sz="14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21267" y="4148336"/>
            <a:ext cx="2522375" cy="195074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47768" y="4274741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Text 9"/>
          <p:cNvSpPr/>
          <p:nvPr/>
        </p:nvSpPr>
        <p:spPr>
          <a:xfrm>
            <a:off x="6526148" y="4882952"/>
            <a:ext cx="2112612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Distribución</a:t>
            </a:r>
            <a:endParaRPr lang="en-US" sz="1750" dirty="0"/>
          </a:p>
        </p:txBody>
      </p:sp>
      <p:sp>
        <p:nvSpPr>
          <p:cNvPr id="16" name="Text 10"/>
          <p:cNvSpPr/>
          <p:nvPr/>
        </p:nvSpPr>
        <p:spPr>
          <a:xfrm>
            <a:off x="6526148" y="5334000"/>
            <a:ext cx="2112612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0.5%</a:t>
            </a: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aplicado en cada distribución de rentas</a:t>
            </a:r>
            <a:endParaRPr lang="en-US" sz="14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14195" y="4148336"/>
            <a:ext cx="2522375" cy="195074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140696" y="4274741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4</a:t>
            </a:r>
            <a:endParaRPr lang="en-US" sz="2100" dirty="0"/>
          </a:p>
        </p:txBody>
      </p:sp>
      <p:sp>
        <p:nvSpPr>
          <p:cNvPr id="19" name="Text 12"/>
          <p:cNvSpPr/>
          <p:nvPr/>
        </p:nvSpPr>
        <p:spPr>
          <a:xfrm>
            <a:off x="9219076" y="4882952"/>
            <a:ext cx="2112612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Mercado Secundario</a:t>
            </a:r>
            <a:endParaRPr lang="en-US" sz="1750" dirty="0"/>
          </a:p>
        </p:txBody>
      </p:sp>
      <p:sp>
        <p:nvSpPr>
          <p:cNvPr id="20" name="Text 13"/>
          <p:cNvSpPr/>
          <p:nvPr/>
        </p:nvSpPr>
        <p:spPr>
          <a:xfrm>
            <a:off x="9219076" y="5334000"/>
            <a:ext cx="2112612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1%</a:t>
            </a: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sobre transacciones permitidas post-STO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3548"/>
            <a:ext cx="10868745" cy="46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Modelo Financiero: Caso Base</a:t>
            </a:r>
            <a:endParaRPr lang="en-US" sz="2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295698"/>
          <a:ext cx="9143771" cy="914400"/>
        </p:xfrm>
        <a:graphic>
          <a:graphicData uri="http://schemas.openxmlformats.org/drawingml/2006/table">
            <a:tbl>
              <a:tblPr/>
              <a:tblGrid>
                <a:gridCol w="38040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71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74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13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Variable</a:t>
                      </a:r>
                      <a:endParaRPr lang="en-US" sz="11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7671" marR="14767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Supuesto Base</a:t>
                      </a:r>
                      <a:endParaRPr lang="en-US" sz="11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7671" marR="14767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Comentario</a:t>
                      </a:r>
                      <a:endParaRPr lang="en-US" sz="11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7671" marR="14767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6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Objetivo STO</a:t>
                      </a:r>
                      <a:endParaRPr lang="en-US" sz="11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7671" marR="14767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$1.000.000 USD</a:t>
                      </a:r>
                      <a:endParaRPr lang="en-US" sz="11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7671" marR="147671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Financiación del activo, adecuación, legal, tecnología y marketing</a:t>
                      </a:r>
                      <a:endParaRPr lang="en-US" sz="11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7671" marR="147671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3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Unidades de alojamiento</a:t>
                      </a:r>
                      <a:endParaRPr lang="en-US" sz="11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7671" marR="14767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12 habitaciones</a:t>
                      </a:r>
                      <a:endParaRPr lang="en-US" sz="11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7671" marR="14767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Hipótesis didáctica para co-living</a:t>
                      </a:r>
                      <a:endParaRPr lang="en-US" sz="11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7671" marR="14767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3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Tarifa mensual media</a:t>
                      </a:r>
                      <a:endParaRPr lang="en-US" sz="11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7671" marR="14767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$900 USD por habitación</a:t>
                      </a:r>
                      <a:endParaRPr lang="en-US" sz="11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7671" marR="147671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Debe validarse con mercado local</a:t>
                      </a:r>
                      <a:endParaRPr lang="en-US" sz="11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7671" marR="147671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3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Ocupación media</a:t>
                      </a:r>
                      <a:endParaRPr lang="en-US" sz="11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7671" marR="14767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75%</a:t>
                      </a:r>
                      <a:endParaRPr lang="en-US" sz="11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7671" marR="14767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Escenario base</a:t>
                      </a:r>
                      <a:endParaRPr lang="en-US" sz="11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7671" marR="14767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3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Ingresos brutos anuales</a:t>
                      </a:r>
                      <a:endParaRPr lang="en-US" sz="11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7671" marR="14767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$97.200 USD</a:t>
                      </a:r>
                      <a:endParaRPr lang="en-US" sz="11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7671" marR="147671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120 x 900 x 12 x 75%</a:t>
                      </a:r>
                      <a:endParaRPr lang="en-US" sz="11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7671" marR="147671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3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Ingresos complementarios</a:t>
                      </a:r>
                      <a:endParaRPr lang="en-US" sz="11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7671" marR="14767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$4.860 USD</a:t>
                      </a:r>
                      <a:endParaRPr lang="en-US" sz="11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7671" marR="14767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5% de ingresos brutos por servicios adicionales</a:t>
                      </a:r>
                      <a:endParaRPr lang="en-US" sz="11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7671" marR="14767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13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Opex</a:t>
                      </a:r>
                      <a:endParaRPr lang="en-US" sz="11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7671" marR="14767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40% de ingresos totales</a:t>
                      </a:r>
                      <a:endParaRPr lang="en-US" sz="11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7671" marR="147671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Gestión, limpieza, mantenimiento, suministros y seguros</a:t>
                      </a:r>
                      <a:endParaRPr lang="en-US" sz="11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7671" marR="147671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13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Reserva anual</a:t>
                      </a:r>
                      <a:endParaRPr lang="en-US" sz="11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7671" marR="14767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5% de ingresos totales</a:t>
                      </a:r>
                      <a:endParaRPr lang="en-US" sz="11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7671" marR="14767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Capex y contingencias</a:t>
                      </a:r>
                      <a:endParaRPr lang="en-US" sz="11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7671" marR="14767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13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Renta neta distribuible</a:t>
                      </a:r>
                      <a:endParaRPr lang="en-US" sz="11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7671" marR="14767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$56.133 USD</a:t>
                      </a:r>
                      <a:endParaRPr lang="en-US" sz="11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7671" marR="147671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Antes de impuestos del inversor</a:t>
                      </a:r>
                      <a:endParaRPr lang="en-US" sz="11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7671" marR="147671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716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Yield académico</a:t>
                      </a:r>
                      <a:endParaRPr lang="en-US" sz="11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7671" marR="14767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5,61%</a:t>
                      </a:r>
                      <a:endParaRPr lang="en-US" sz="11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7671" marR="14767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No garantizado; sujeto a ocupación, costes, impuestos y mercado</a:t>
                      </a:r>
                      <a:endParaRPr lang="en-US" sz="11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7671" marR="14767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61475" y="5833765"/>
            <a:ext cx="10868745" cy="420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Nota:</a:t>
            </a: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Estos supuestos son académicos. El modelo debe sustituirse por datos auditados del inmueble, contratos de alquiler, ocupación histórica, costes locales, impuestos, seguros y mantenimiento.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9948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Escenarios de Sensibilidad</a:t>
            </a:r>
            <a:endParaRPr lang="en-US" sz="34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425873"/>
          <a:ext cx="9143771" cy="914400"/>
        </p:xfrm>
        <a:graphic>
          <a:graphicData uri="http://schemas.openxmlformats.org/drawingml/2006/table">
            <a:tbl>
              <a:tblPr/>
              <a:tblGrid>
                <a:gridCol w="1630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0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0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0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737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737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6118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Escenario</a:t>
                      </a:r>
                      <a:endParaRPr lang="en-US" sz="13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Ocupación</a:t>
                      </a:r>
                      <a:endParaRPr lang="en-US" sz="13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Tarifa Media</a:t>
                      </a:r>
                      <a:endParaRPr lang="en-US" sz="13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Opex</a:t>
                      </a:r>
                      <a:endParaRPr lang="en-US" sz="13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Renta Neta Distribuible</a:t>
                      </a:r>
                      <a:endParaRPr lang="en-US" sz="13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Lectura</a:t>
                      </a:r>
                      <a:endParaRPr lang="en-US" sz="13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0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Conservador</a:t>
                      </a:r>
                      <a:endParaRPr lang="en-US" sz="13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60%</a:t>
                      </a:r>
                      <a:endParaRPr lang="en-US" sz="13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$800 USD</a:t>
                      </a:r>
                      <a:endParaRPr lang="en-US" sz="13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45%</a:t>
                      </a:r>
                      <a:endParaRPr lang="en-US" sz="13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$32.800 USD</a:t>
                      </a:r>
                      <a:endParaRPr lang="en-US" sz="13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El activo cubre operativa, pero el yield baja y exige reservas prudentes</a:t>
                      </a:r>
                      <a:endParaRPr lang="en-US" sz="13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118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Base</a:t>
                      </a:r>
                      <a:endParaRPr lang="en-US" sz="13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75%</a:t>
                      </a:r>
                      <a:endParaRPr lang="en-US" sz="13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$900 USD</a:t>
                      </a:r>
                      <a:endParaRPr lang="en-US" sz="13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40%</a:t>
                      </a:r>
                      <a:endParaRPr lang="en-US" sz="13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$56.100 USD</a:t>
                      </a:r>
                      <a:endParaRPr lang="en-US" sz="13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Escenario académico equilibrado</a:t>
                      </a:r>
                      <a:endParaRPr lang="en-US" sz="13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58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Optimista</a:t>
                      </a:r>
                      <a:endParaRPr lang="en-US" sz="13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85%</a:t>
                      </a:r>
                      <a:endParaRPr lang="en-US" sz="13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$1.050 USD</a:t>
                      </a:r>
                      <a:endParaRPr lang="en-US" sz="13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38%</a:t>
                      </a:r>
                      <a:endParaRPr lang="en-US" sz="13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$79.500 USD</a:t>
                      </a:r>
                      <a:endParaRPr lang="en-US" sz="13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Mayor atractivo, pero no debe comunicarse como promesa</a:t>
                      </a:r>
                      <a:endParaRPr lang="en-US" sz="13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61475" y="5494139"/>
            <a:ext cx="10868745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Los escenarios de sensibilidad muestran cómo variaciones en ocupación, tarifa y costos operativos impactan la renta distribuible. El escenario base (75% ocupación, $900/mes) es el supuesto académico equilibrado. El conservador protege contra volatilidad; el optimista refleja potencial pero no debe garantizarse.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Uso de Fondos: Objetivo STO $1.000.000 USD</a:t>
            </a:r>
            <a:endParaRPr lang="en-US" sz="1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09538"/>
            <a:ext cx="10868745" cy="60865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7049195"/>
            <a:ext cx="10868745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El objetivo STO de $1.000.000 USD está diseñado para financiar la adquisición del activo, su adecuación como co-living, la infraestructura tecnológica completa, el cumplimiento regulatorio integral y la adquisición de inversores. La reserva operativa asegura que el activo pueda funcionar sin depender de distribuciones iniciales.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728416"/>
            <a:ext cx="10868745" cy="8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1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Riesgos y Mitigación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356682" y="3827066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Análisis integral de riesgos tecnológicos, regulatorios, operativos y de ciberseguridad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5171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Matriz de Riesgos Críticos</a:t>
            </a:r>
            <a:endParaRPr lang="en-US" sz="3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440954"/>
            <a:ext cx="2596688" cy="48417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9151" y="1557933"/>
            <a:ext cx="261336" cy="326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854748" y="2143323"/>
            <a:ext cx="2210142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Regulatorio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854748" y="2511822"/>
            <a:ext cx="2210142" cy="3577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Riesgo:</a:t>
            </a: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Cambios en MiCA/CNAD podrían requerir restructuración del token o restricciones de transferencia</a:t>
            </a:r>
            <a:endParaRPr lang="en-US" sz="13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Mitigación:</a:t>
            </a: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Monitoreo continuo de cambios regulatorios, asesoría legal especializada, cláusulas de adaptación en documentos de STO, participación en grupos de trabajo regulatorio</a:t>
            </a:r>
            <a:endParaRPr lang="en-US" sz="13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18794" y="1440954"/>
            <a:ext cx="2596688" cy="48417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86470" y="1557933"/>
            <a:ext cx="261336" cy="326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</a:t>
            </a:r>
            <a:endParaRPr lang="en-US" sz="2050" dirty="0"/>
          </a:p>
        </p:txBody>
      </p:sp>
      <p:sp>
        <p:nvSpPr>
          <p:cNvPr id="9" name="Text 5"/>
          <p:cNvSpPr/>
          <p:nvPr/>
        </p:nvSpPr>
        <p:spPr>
          <a:xfrm>
            <a:off x="3612067" y="2143323"/>
            <a:ext cx="2210142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Técnico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3612067" y="2511822"/>
            <a:ext cx="2210142" cy="2774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Riesgo:</a:t>
            </a: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Bugs en contratos inteligentes podrían permitir robo de fondos o distribuciones incorrectas</a:t>
            </a:r>
            <a:endParaRPr lang="en-US" sz="13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Mitigación:</a:t>
            </a: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Auditoría externa de seguridad, multisig 3/5 para cambios críticos, timelock de 48h para upgrades, pruebas de invariantes y fuzzing</a:t>
            </a:r>
            <a:endParaRPr lang="en-US" sz="13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76113" y="1440954"/>
            <a:ext cx="2596688" cy="484177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343790" y="1557933"/>
            <a:ext cx="261336" cy="326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</a:t>
            </a:r>
            <a:endParaRPr lang="en-US" sz="2050" dirty="0"/>
          </a:p>
        </p:txBody>
      </p:sp>
      <p:sp>
        <p:nvSpPr>
          <p:cNvPr id="13" name="Text 8"/>
          <p:cNvSpPr/>
          <p:nvPr/>
        </p:nvSpPr>
        <p:spPr>
          <a:xfrm>
            <a:off x="6369387" y="2143323"/>
            <a:ext cx="2210142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Operativo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6369387" y="2511822"/>
            <a:ext cx="2210142" cy="2506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Riesgo:</a:t>
            </a: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Baja ocupación del co-living reduce ingresos y yields para inversores</a:t>
            </a:r>
            <a:endParaRPr lang="en-US" sz="13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Mitigación:</a:t>
            </a: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Diversificación a múltiples propiedades, gestión profesional con KPIs, marketing continuo, partnerships con plataformas de nómadas</a:t>
            </a:r>
            <a:endParaRPr lang="en-US" sz="13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33433" y="1440954"/>
            <a:ext cx="2596787" cy="484177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101109" y="1557933"/>
            <a:ext cx="261336" cy="326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4</a:t>
            </a:r>
            <a:endParaRPr lang="en-US" sz="2050" dirty="0"/>
          </a:p>
        </p:txBody>
      </p:sp>
      <p:sp>
        <p:nvSpPr>
          <p:cNvPr id="17" name="Text 11"/>
          <p:cNvSpPr/>
          <p:nvPr/>
        </p:nvSpPr>
        <p:spPr>
          <a:xfrm>
            <a:off x="9126706" y="2143323"/>
            <a:ext cx="221024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Ciberseguridad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9126706" y="2511822"/>
            <a:ext cx="2210241" cy="2506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Riesgo:</a:t>
            </a: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Compromiso de claves privadas de administración o tesorería</a:t>
            </a:r>
            <a:endParaRPr lang="en-US" sz="13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Mitigación:</a:t>
            </a: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PKI empresarial, custodia segura en Safe multisig, zero-knowledge proofs para privacidad, auditoría de seguridad operativa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3102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Defensa en Profundidad: Ciberseguridad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439565"/>
            <a:ext cx="3508486" cy="48853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80585" y="1566267"/>
            <a:ext cx="270166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866952" y="2177058"/>
            <a:ext cx="3097532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Custodia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866952" y="2561530"/>
            <a:ext cx="3097532" cy="3557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Safe multisig 3/5:</a:t>
            </a: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Requiere 3 de 5 firmas para movimiento de fondos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Sin claves individuales en caliente:</a:t>
            </a: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Todas las claves almacenadas en hardware wallets o bóvedas seguras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Separación de roles:</a:t>
            </a: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Diferentes signatarios para diferentes tipos de transacciones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Auditoría de transacciones:</a:t>
            </a: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Registro inmutable de todas las operaciones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1605" y="1439565"/>
            <a:ext cx="3508486" cy="488533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60715" y="1566267"/>
            <a:ext cx="270166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4547082" y="2177058"/>
            <a:ext cx="3097532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Privacidad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4547082" y="2561530"/>
            <a:ext cx="3097532" cy="3557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DIDs (Decentralized Identifiers):</a:t>
            </a: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Identidad verificable sin exposición de datos personales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Credenciales verificables:</a:t>
            </a: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Prueba de elegibilidad sin revelar información sensible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Minimización de datos personales:</a:t>
            </a: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Solo datos necesarios para KYC/AML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Zero-Knowledge Proofs:</a:t>
            </a: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Verificación de cumplimiento sin exponer datos subyacentes</a:t>
            </a:r>
            <a:endParaRPr lang="en-US" sz="14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21734" y="1439565"/>
            <a:ext cx="3508486" cy="488533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40845" y="1566267"/>
            <a:ext cx="270166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</a:t>
            </a:r>
            <a:endParaRPr lang="en-US" sz="2100" dirty="0"/>
          </a:p>
        </p:txBody>
      </p:sp>
      <p:sp>
        <p:nvSpPr>
          <p:cNvPr id="13" name="Text 8"/>
          <p:cNvSpPr/>
          <p:nvPr/>
        </p:nvSpPr>
        <p:spPr>
          <a:xfrm>
            <a:off x="8227211" y="2177058"/>
            <a:ext cx="3097532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Operativa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8227211" y="2561530"/>
            <a:ext cx="3097532" cy="3557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DevSecOps:</a:t>
            </a: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Integración de seguridad en todo el ciclo de desarrollo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Auditoría de código:</a:t>
            </a: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Revisión externa de smart contracts y backend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Respuesta a incidentes:</a:t>
            </a: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Plan documentado de detección, contención y recuperación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Monitoreo continuo:</a:t>
            </a: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Alertas en tiempo real de actividades anómalas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17676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Roadmap y Ejecución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050877"/>
            <a:ext cx="10868745" cy="1630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1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Plan de desarrollo 0-24 meses con hitos clave y métricas de éxito</a:t>
            </a:r>
            <a:endParaRPr lang="en-US" sz="5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0998"/>
            <a:ext cx="10868745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Plan 0-24 Meses: Hitos Clave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231602"/>
            <a:ext cx="5374347" cy="2709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35641" y="1335385"/>
            <a:ext cx="225915" cy="282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831135" y="1822450"/>
            <a:ext cx="5035027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Fase 1: Meses 0-3 - Preparación y Validación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831135" y="2129730"/>
            <a:ext cx="5035027" cy="1641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Due diligence legal: Revisión de estructura SPV, documentos de STO, cumplimiento MiCA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Auditoría técnica: Revisión de smart contracts, arquitectura, seguridad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Testnet MVP: Despliegue de contratos en testnet, pruebas de flujos de usuario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Validación de mercado: Encuestas con nómadas digitales, validación de demanda</a:t>
            </a:r>
            <a:endParaRPr lang="en-US" sz="11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55774" y="1231602"/>
            <a:ext cx="5374446" cy="2709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30039" y="1335385"/>
            <a:ext cx="225915" cy="282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6325434" y="1822450"/>
            <a:ext cx="5035126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Fase 2: Meses 3-6 - Aprobación y Preparación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6325434" y="2129730"/>
            <a:ext cx="5035126" cy="142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Aprobación regulatoria: Registro ante autoridades financieras competentes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KYC/AML setup: Integración de proveedores, configuración de whitelist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Marketing pre-STO: Campaña de awareness, building de comunidad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Documentación final: Prospecto, términos y condiciones, guías de usuario</a:t>
            </a:r>
            <a:endParaRPr lang="en-US" sz="11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060726"/>
            <a:ext cx="5374347" cy="227617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235641" y="4164509"/>
            <a:ext cx="225915" cy="282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831135" y="4651573"/>
            <a:ext cx="5035027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Fase 3: Meses 6-9 - Lanzamiento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831135" y="4958854"/>
            <a:ext cx="5035027" cy="991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STO mainnet: Despliegue en Ethereum L2, apertura de inversión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Onboarding inversores: Proceso KYC, distribución de tokens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Distribución rentas: Primeras distribuciones de ingresos del co-living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Gobernanza operativa: Activación de votaciones en RLB</a:t>
            </a:r>
            <a:endParaRPr lang="en-US" sz="11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55774" y="4060726"/>
            <a:ext cx="5374446" cy="227617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730039" y="4164509"/>
            <a:ext cx="225915" cy="282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4</a:t>
            </a:r>
            <a:endParaRPr lang="en-US" sz="1750" dirty="0"/>
          </a:p>
        </p:txBody>
      </p:sp>
      <p:sp>
        <p:nvSpPr>
          <p:cNvPr id="17" name="Text 11"/>
          <p:cNvSpPr/>
          <p:nvPr/>
        </p:nvSpPr>
        <p:spPr>
          <a:xfrm>
            <a:off x="6325434" y="4651573"/>
            <a:ext cx="5035126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Fase 4: Meses 9-24 - Optimización y Expansión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6325434" y="4958854"/>
            <a:ext cx="5035126" cy="12083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Optimización: Mejoras en dApp, reducción de costos, aumento de eficiencia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Expansión: Análisis de nuevos activos, diversificación de portfolio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Mercado secundario: Activación de trading entre inversores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Escalabilidad: Preparación para múltiples propiedades y jurisdicciones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3102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Conclusión: Por Qué Ahora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439565"/>
            <a:ext cx="3508486" cy="48853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80585" y="1566267"/>
            <a:ext cx="270166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866952" y="2177058"/>
            <a:ext cx="3097532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1. Convergencia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866952" y="2561530"/>
            <a:ext cx="3097532" cy="3276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Blockchain maduro: Ethereum L2 ofrece seguridad, escalabilidad y costos bajos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Regulación clara: MiCA en Europa, marcos progresivos en El Salvador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Demanda de RWA: Inversores institucionales buscan exposición a activos reales tokenizados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Mercado de co-living: 15M+ nómadas digitales con crecimiento del 25% anual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1605" y="1439565"/>
            <a:ext cx="3508486" cy="488533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60715" y="1566267"/>
            <a:ext cx="270166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4547082" y="2177058"/>
            <a:ext cx="3097532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2. Diferencial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4547082" y="2561530"/>
            <a:ext cx="3097532" cy="3557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Estructura legal sólida: SPV + security token + smart contracts integrados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Seguridad institucional: Auditoría externa, multisig, custodia segura, KYC/AML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Comunidad global: Acceso a inversores de todo el mundo sin intermediarios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Transparencia verificable: Todos los flujos on-chain, auditoría pública</a:t>
            </a:r>
            <a:endParaRPr lang="en-US" sz="14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21734" y="1439565"/>
            <a:ext cx="3508486" cy="488533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40845" y="1566267"/>
            <a:ext cx="270166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</a:t>
            </a:r>
            <a:endParaRPr lang="en-US" sz="2100" dirty="0"/>
          </a:p>
        </p:txBody>
      </p:sp>
      <p:sp>
        <p:nvSpPr>
          <p:cNvPr id="13" name="Text 8"/>
          <p:cNvSpPr/>
          <p:nvPr/>
        </p:nvSpPr>
        <p:spPr>
          <a:xfrm>
            <a:off x="8227211" y="2177058"/>
            <a:ext cx="3097532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3. Impacto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8227211" y="2561530"/>
            <a:ext cx="3097532" cy="3557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Democratizar acceso inmobiliario: Tickets desde $1.000 USD, no $100K+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Crear liquidez: Mercado secundario permite salida sin esperar 6-12 meses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Generar rentas verificables: Distribuciones automáticas, trazables, transparentes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Modelo replicable: Arquitectura escalable a múltiples activos y jurisdicciones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2096</Words>
  <Application>Microsoft Office PowerPoint</Application>
  <PresentationFormat>Panorámica</PresentationFormat>
  <Paragraphs>268</Paragraphs>
  <Slides>19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4" baseType="lpstr">
      <vt:lpstr>Heebo Bold</vt:lpstr>
      <vt:lpstr>Arial</vt:lpstr>
      <vt:lpstr>Heebo</vt:lpstr>
      <vt:lpstr>Crimson Pro SemiBold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Alvaro Arevalo De Pablos</dc:creator>
  <cp:lastModifiedBy>Alvaro Arevalo De Pablos</cp:lastModifiedBy>
  <cp:revision>1</cp:revision>
  <dcterms:created xsi:type="dcterms:W3CDTF">2026-09-13T20:40:43Z</dcterms:created>
  <dcterms:modified xsi:type="dcterms:W3CDTF">2026-09-13T20:43:22Z</dcterms:modified>
</cp:coreProperties>
</file>